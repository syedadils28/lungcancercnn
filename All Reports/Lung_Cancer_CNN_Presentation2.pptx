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5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A4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A45"/>
                </a:solidFill>
                <a:latin typeface="Arial"/>
              </a:rPr>
              <a:t>Lung Cancer Subtypes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 (%)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Adenocarcinoma</c:v>
                  </c:pt>
                  <c:pt idx="1">
                    <c:v>Squamous Cell</c:v>
                  </c:pt>
                  <c:pt idx="2">
                    <c:v>Large Cell</c:v>
                  </c:pt>
                  <c:pt idx="3">
                    <c:v>Small Cell</c:v>
                  </c:pt>
                  <c:pt idx="4">
                    <c:v>Other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25</c:v>
                </c:pt>
                <c:pt idx="2">
                  <c:v>10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A4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A45"/>
                </a:solidFill>
                <a:latin typeface="Arial"/>
              </a:rPr>
              <a:t>Class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Dataset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059669"/>
              </a:solidFill>
              <a:effectLst/>
            </c:spPr>
          </c:dPt>
          <c:dPt>
            <c:idx val="3"/>
            <c:bubble3D val="0"/>
            <c:spPr>
              <a:solidFill>
                <a:srgbClr val="7C3AE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Adenocarcinoma</c:v>
                </c:pt>
                <c:pt idx="1">
                  <c:v>Large Cell</c:v>
                </c:pt>
                <c:pt idx="2">
                  <c:v>Normal</c:v>
                </c:pt>
                <c:pt idx="3">
                  <c:v>Squamous Cell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3750</c:v>
                </c:pt>
                <c:pt idx="1">
                  <c:v>2500</c:v>
                </c:pt>
                <c:pt idx="2">
                  <c:v>3750</c:v>
                </c:pt>
                <c:pt idx="3">
                  <c:v>5000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A4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A45"/>
                </a:solidFill>
                <a:latin typeface="Arial"/>
              </a:rPr>
              <a:t>Accuracy Curve (Train vs Validation)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solidFill>
              <a:srgbClr val="1A56DB"/>
            </a:solidFill>
            <a:ln w="31750" cap="flat">
              <a:solidFill>
                <a:srgbClr val="1A56D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56DB"/>
              </a:solidFill>
              <a:ln w="9525" cap="flat">
                <a:solidFill>
                  <a:srgbClr val="1A56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E1</c:v>
                  </c:pt>
                  <c:pt idx="1">
                    <c:v>E2</c:v>
                  </c:pt>
                  <c:pt idx="2">
                    <c:v>E3</c:v>
                  </c:pt>
                  <c:pt idx="3">
                    <c:v>E4</c:v>
                  </c:pt>
                  <c:pt idx="4">
                    <c:v>E5</c:v>
                  </c:pt>
                  <c:pt idx="5">
                    <c:v>E6</c:v>
                  </c:pt>
                  <c:pt idx="6">
                    <c:v>E7</c:v>
                  </c:pt>
                  <c:pt idx="7">
                    <c:v>E8</c:v>
                  </c:pt>
                  <c:pt idx="8">
                    <c:v>E9</c:v>
                  </c:pt>
                  <c:pt idx="9">
                    <c:v>E10</c:v>
                  </c:pt>
                  <c:pt idx="10">
                    <c:v>E11</c:v>
                  </c:pt>
                  <c:pt idx="11">
                    <c:v>E12</c:v>
                  </c:pt>
                  <c:pt idx="12">
                    <c:v>E13</c:v>
                  </c:pt>
                  <c:pt idx="13">
                    <c:v>E14</c:v>
                  </c:pt>
                  <c:pt idx="14">
                    <c:v>E15</c:v>
                  </c:pt>
                  <c:pt idx="15">
                    <c:v>E16</c:v>
                  </c:pt>
                  <c:pt idx="16">
                    <c:v>E17</c:v>
                  </c:pt>
                  <c:pt idx="17">
                    <c:v>E18</c:v>
                  </c:pt>
                  <c:pt idx="18">
                    <c:v>E19</c:v>
                  </c:pt>
                  <c:pt idx="19">
                    <c:v>E20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45</c:v>
                </c:pt>
                <c:pt idx="1">
                  <c:v>58</c:v>
                </c:pt>
                <c:pt idx="2">
                  <c:v>67</c:v>
                </c:pt>
                <c:pt idx="3">
                  <c:v>72</c:v>
                </c:pt>
                <c:pt idx="4">
                  <c:v>76</c:v>
                </c:pt>
                <c:pt idx="5">
                  <c:v>79</c:v>
                </c:pt>
                <c:pt idx="6">
                  <c:v>82</c:v>
                </c:pt>
                <c:pt idx="7">
                  <c:v>84</c:v>
                </c:pt>
                <c:pt idx="8">
                  <c:v>86</c:v>
                </c:pt>
                <c:pt idx="9">
                  <c:v>87</c:v>
                </c:pt>
                <c:pt idx="10">
                  <c:v>88</c:v>
                </c:pt>
                <c:pt idx="11">
                  <c:v>89</c:v>
                </c:pt>
                <c:pt idx="12">
                  <c:v>90</c:v>
                </c:pt>
                <c:pt idx="13">
                  <c:v>91</c:v>
                </c:pt>
                <c:pt idx="14">
                  <c:v>91.5</c:v>
                </c:pt>
                <c:pt idx="15">
                  <c:v>92</c:v>
                </c:pt>
                <c:pt idx="16">
                  <c:v>92.3</c:v>
                </c:pt>
                <c:pt idx="17">
                  <c:v>92.7</c:v>
                </c:pt>
                <c:pt idx="18">
                  <c:v>93</c:v>
                </c:pt>
                <c:pt idx="19">
                  <c:v>93.5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Accuracy</c:v>
                </c:pt>
              </c:strCache>
            </c:strRef>
          </c:tx>
          <c:spPr>
            <a:solidFill>
              <a:srgbClr val="059669"/>
            </a:solidFill>
            <a:ln w="3175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E1</c:v>
                  </c:pt>
                  <c:pt idx="1">
                    <c:v>E2</c:v>
                  </c:pt>
                  <c:pt idx="2">
                    <c:v>E3</c:v>
                  </c:pt>
                  <c:pt idx="3">
                    <c:v>E4</c:v>
                  </c:pt>
                  <c:pt idx="4">
                    <c:v>E5</c:v>
                  </c:pt>
                  <c:pt idx="5">
                    <c:v>E6</c:v>
                  </c:pt>
                  <c:pt idx="6">
                    <c:v>E7</c:v>
                  </c:pt>
                  <c:pt idx="7">
                    <c:v>E8</c:v>
                  </c:pt>
                  <c:pt idx="8">
                    <c:v>E9</c:v>
                  </c:pt>
                  <c:pt idx="9">
                    <c:v>E10</c:v>
                  </c:pt>
                  <c:pt idx="10">
                    <c:v>E11</c:v>
                  </c:pt>
                  <c:pt idx="11">
                    <c:v>E12</c:v>
                  </c:pt>
                  <c:pt idx="12">
                    <c:v>E13</c:v>
                  </c:pt>
                  <c:pt idx="13">
                    <c:v>E14</c:v>
                  </c:pt>
                  <c:pt idx="14">
                    <c:v>E15</c:v>
                  </c:pt>
                  <c:pt idx="15">
                    <c:v>E16</c:v>
                  </c:pt>
                  <c:pt idx="16">
                    <c:v>E17</c:v>
                  </c:pt>
                  <c:pt idx="17">
                    <c:v>E18</c:v>
                  </c:pt>
                  <c:pt idx="18">
                    <c:v>E19</c:v>
                  </c:pt>
                  <c:pt idx="19">
                    <c:v>E20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42</c:v>
                </c:pt>
                <c:pt idx="1">
                  <c:v>54</c:v>
                </c:pt>
                <c:pt idx="2">
                  <c:v>63</c:v>
                </c:pt>
                <c:pt idx="3">
                  <c:v>69</c:v>
                </c:pt>
                <c:pt idx="4">
                  <c:v>73</c:v>
                </c:pt>
                <c:pt idx="5">
                  <c:v>76</c:v>
                </c:pt>
                <c:pt idx="6">
                  <c:v>79</c:v>
                </c:pt>
                <c:pt idx="7">
                  <c:v>81</c:v>
                </c:pt>
                <c:pt idx="8">
                  <c:v>83</c:v>
                </c:pt>
                <c:pt idx="9">
                  <c:v>84</c:v>
                </c:pt>
                <c:pt idx="10">
                  <c:v>85</c:v>
                </c:pt>
                <c:pt idx="11">
                  <c:v>86</c:v>
                </c:pt>
                <c:pt idx="12">
                  <c:v>87</c:v>
                </c:pt>
                <c:pt idx="13">
                  <c:v>87.5</c:v>
                </c:pt>
                <c:pt idx="14">
                  <c:v>88</c:v>
                </c:pt>
                <c:pt idx="15">
                  <c:v>88.3</c:v>
                </c:pt>
                <c:pt idx="16">
                  <c:v>88.7</c:v>
                </c:pt>
                <c:pt idx="17">
                  <c:v>89</c:v>
                </c:pt>
                <c:pt idx="18">
                  <c:v>89.3</c:v>
                </c:pt>
                <c:pt idx="19">
                  <c:v>89.5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A4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A45"/>
                </a:solidFill>
                <a:latin typeface="Arial"/>
              </a:rPr>
              <a:t>Loss Curve (Train vs Validation)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solidFill>
              <a:srgbClr val="DC2626"/>
            </a:solidFill>
            <a:ln w="3175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E1</c:v>
                  </c:pt>
                  <c:pt idx="1">
                    <c:v>E2</c:v>
                  </c:pt>
                  <c:pt idx="2">
                    <c:v>E3</c:v>
                  </c:pt>
                  <c:pt idx="3">
                    <c:v>E4</c:v>
                  </c:pt>
                  <c:pt idx="4">
                    <c:v>E5</c:v>
                  </c:pt>
                  <c:pt idx="5">
                    <c:v>E6</c:v>
                  </c:pt>
                  <c:pt idx="6">
                    <c:v>E7</c:v>
                  </c:pt>
                  <c:pt idx="7">
                    <c:v>E8</c:v>
                  </c:pt>
                  <c:pt idx="8">
                    <c:v>E9</c:v>
                  </c:pt>
                  <c:pt idx="9">
                    <c:v>E10</c:v>
                  </c:pt>
                  <c:pt idx="10">
                    <c:v>E11</c:v>
                  </c:pt>
                  <c:pt idx="11">
                    <c:v>E12</c:v>
                  </c:pt>
                  <c:pt idx="12">
                    <c:v>E13</c:v>
                  </c:pt>
                  <c:pt idx="13">
                    <c:v>E14</c:v>
                  </c:pt>
                  <c:pt idx="14">
                    <c:v>E15</c:v>
                  </c:pt>
                  <c:pt idx="15">
                    <c:v>E16</c:v>
                  </c:pt>
                  <c:pt idx="16">
                    <c:v>E17</c:v>
                  </c:pt>
                  <c:pt idx="17">
                    <c:v>E18</c:v>
                  </c:pt>
                  <c:pt idx="18">
                    <c:v>E19</c:v>
                  </c:pt>
                  <c:pt idx="19">
                    <c:v>E20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1.4</c:v>
                </c:pt>
                <c:pt idx="1">
                  <c:v>1.1</c:v>
                </c:pt>
                <c:pt idx="2">
                  <c:v>0.9</c:v>
                </c:pt>
                <c:pt idx="3">
                  <c:v>0.78</c:v>
                </c:pt>
                <c:pt idx="4">
                  <c:v>0.67</c:v>
                </c:pt>
                <c:pt idx="5">
                  <c:v>0.58</c:v>
                </c:pt>
                <c:pt idx="6">
                  <c:v>0.51</c:v>
                </c:pt>
                <c:pt idx="7">
                  <c:v>0.45</c:v>
                </c:pt>
                <c:pt idx="8">
                  <c:v>0.4</c:v>
                </c:pt>
                <c:pt idx="9">
                  <c:v>0.36</c:v>
                </c:pt>
                <c:pt idx="10">
                  <c:v>0.33</c:v>
                </c:pt>
                <c:pt idx="11">
                  <c:v>0.31</c:v>
                </c:pt>
                <c:pt idx="12">
                  <c:v>0.29</c:v>
                </c:pt>
                <c:pt idx="13">
                  <c:v>0.27</c:v>
                </c:pt>
                <c:pt idx="14">
                  <c:v>0.26</c:v>
                </c:pt>
                <c:pt idx="15">
                  <c:v>0.25</c:v>
                </c:pt>
                <c:pt idx="16">
                  <c:v>0.24</c:v>
                </c:pt>
                <c:pt idx="17">
                  <c:v>0.23</c:v>
                </c:pt>
                <c:pt idx="18">
                  <c:v>0.22</c:v>
                </c:pt>
                <c:pt idx="19">
                  <c:v>0.21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solidFill>
              <a:srgbClr val="D97706"/>
            </a:solidFill>
            <a:ln w="3175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E1</c:v>
                  </c:pt>
                  <c:pt idx="1">
                    <c:v>E2</c:v>
                  </c:pt>
                  <c:pt idx="2">
                    <c:v>E3</c:v>
                  </c:pt>
                  <c:pt idx="3">
                    <c:v>E4</c:v>
                  </c:pt>
                  <c:pt idx="4">
                    <c:v>E5</c:v>
                  </c:pt>
                  <c:pt idx="5">
                    <c:v>E6</c:v>
                  </c:pt>
                  <c:pt idx="6">
                    <c:v>E7</c:v>
                  </c:pt>
                  <c:pt idx="7">
                    <c:v>E8</c:v>
                  </c:pt>
                  <c:pt idx="8">
                    <c:v>E9</c:v>
                  </c:pt>
                  <c:pt idx="9">
                    <c:v>E10</c:v>
                  </c:pt>
                  <c:pt idx="10">
                    <c:v>E11</c:v>
                  </c:pt>
                  <c:pt idx="11">
                    <c:v>E12</c:v>
                  </c:pt>
                  <c:pt idx="12">
                    <c:v>E13</c:v>
                  </c:pt>
                  <c:pt idx="13">
                    <c:v>E14</c:v>
                  </c:pt>
                  <c:pt idx="14">
                    <c:v>E15</c:v>
                  </c:pt>
                  <c:pt idx="15">
                    <c:v>E16</c:v>
                  </c:pt>
                  <c:pt idx="16">
                    <c:v>E17</c:v>
                  </c:pt>
                  <c:pt idx="17">
                    <c:v>E18</c:v>
                  </c:pt>
                  <c:pt idx="18">
                    <c:v>E19</c:v>
                  </c:pt>
                  <c:pt idx="19">
                    <c:v>E20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1.5</c:v>
                </c:pt>
                <c:pt idx="1">
                  <c:v>1.2</c:v>
                </c:pt>
                <c:pt idx="2">
                  <c:v>0.98</c:v>
                </c:pt>
                <c:pt idx="3">
                  <c:v>0.83</c:v>
                </c:pt>
                <c:pt idx="4">
                  <c:v>0.72</c:v>
                </c:pt>
                <c:pt idx="5">
                  <c:v>0.63</c:v>
                </c:pt>
                <c:pt idx="6">
                  <c:v>0.56</c:v>
                </c:pt>
                <c:pt idx="7">
                  <c:v>0.5</c:v>
                </c:pt>
                <c:pt idx="8">
                  <c:v>0.45</c:v>
                </c:pt>
                <c:pt idx="9">
                  <c:v>0.41</c:v>
                </c:pt>
                <c:pt idx="10">
                  <c:v>0.38</c:v>
                </c:pt>
                <c:pt idx="11">
                  <c:v>0.35</c:v>
                </c:pt>
                <c:pt idx="12">
                  <c:v>0.33</c:v>
                </c:pt>
                <c:pt idx="13">
                  <c:v>0.31</c:v>
                </c:pt>
                <c:pt idx="14">
                  <c:v>0.3</c:v>
                </c:pt>
                <c:pt idx="15">
                  <c:v>0.29</c:v>
                </c:pt>
                <c:pt idx="16">
                  <c:v>0.28</c:v>
                </c:pt>
                <c:pt idx="17">
                  <c:v>0.27</c:v>
                </c:pt>
                <c:pt idx="18">
                  <c:v>0.26</c:v>
                </c:pt>
                <c:pt idx="19">
                  <c:v>0.25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CNN</c:v>
                </c:pt>
              </c:strCache>
            </c:strRef>
          </c:tx>
          <c:spPr>
            <a:solidFill>
              <a:srgbClr val="1A56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93.5</c:v>
                </c:pt>
                <c:pt idx="1">
                  <c:v>93.2</c:v>
                </c:pt>
                <c:pt idx="2">
                  <c:v>93.1</c:v>
                </c:pt>
                <c:pt idx="3">
                  <c:v>93.1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RF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91.2</c:v>
                </c:pt>
                <c:pt idx="1">
                  <c:v>91</c:v>
                </c:pt>
                <c:pt idx="2">
                  <c:v>90.8</c:v>
                </c:pt>
                <c:pt idx="3">
                  <c:v>90.9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KNN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88.7</c:v>
                </c:pt>
                <c:pt idx="1">
                  <c:v>88.4</c:v>
                </c:pt>
                <c:pt idx="2">
                  <c:v>88.1</c:v>
                </c:pt>
                <c:pt idx="3">
                  <c:v>88.2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A4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A45"/>
                </a:solidFill>
                <a:latin typeface="Arial"/>
              </a:rPr>
              <a:t>Radar — Metrics Comparison</a:t>
            </a:r>
          </a:p>
        </c:rich>
      </c:tx>
      <c:layout/>
      <c:overlay val="0"/>
    </c:title>
    <c:autoTitleDeleted val="0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CNN</c:v>
                </c:pt>
              </c:strCache>
            </c:strRef>
          </c:tx>
          <c:spPr>
            <a:solidFill>
              <a:srgbClr val="1A56DB"/>
            </a:solidFill>
            <a:ln w="25400" cap="flat">
              <a:solidFill>
                <a:srgbClr val="1A56D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1A56DB"/>
              </a:solidFill>
              <a:ln w="9525" cap="flat">
                <a:solidFill>
                  <a:srgbClr val="1A56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93.5</c:v>
                </c:pt>
                <c:pt idx="1">
                  <c:v>93.2</c:v>
                </c:pt>
                <c:pt idx="2">
                  <c:v>93.1</c:v>
                </c:pt>
                <c:pt idx="3">
                  <c:v>93.1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RF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91.2</c:v>
                </c:pt>
                <c:pt idx="1">
                  <c:v>91</c:v>
                </c:pt>
                <c:pt idx="2">
                  <c:v>90.8</c:v>
                </c:pt>
                <c:pt idx="3">
                  <c:v>90.9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KNN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88.7</c:v>
                </c:pt>
                <c:pt idx="1">
                  <c:v>88.4</c:v>
                </c:pt>
                <c:pt idx="2">
                  <c:v>88.1</c:v>
                </c:pt>
                <c:pt idx="3">
                  <c:v>88.2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A4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A45"/>
                </a:solidFill>
                <a:latin typeface="Arial"/>
              </a:rPr>
              <a:t>Model Agreement Rate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Agreement (%)</c:v>
                </c:pt>
              </c:strCache>
            </c:strRef>
          </c:tx>
          <c:spPr>
            <a:solidFill>
              <a:srgbClr val="1A56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56D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CNN ↔ RF</c:v>
                  </c:pt>
                  <c:pt idx="1">
                    <c:v>CNN ↔ KNN</c:v>
                  </c:pt>
                  <c:pt idx="2">
                    <c:v>RF ↔ KNN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92.1</c:v>
                </c:pt>
                <c:pt idx="1">
                  <c:v>89.4</c:v>
                </c:pt>
                <c:pt idx="2">
                  <c:v>90.8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12166">
              <a:alpha val="60000"/>
            </a:srgbClr>
          </a:solidFill>
          <a:ln w="12700">
            <a:solidFill>
              <a:srgbClr val="112166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474720"/>
            <a:ext cx="3200400" cy="3200400"/>
          </a:xfrm>
          <a:prstGeom prst="ellipse">
            <a:avLst/>
          </a:prstGeom>
          <a:solidFill>
            <a:srgbClr val="112166">
              <a:alpha val="50000"/>
            </a:srgbClr>
          </a:solidFill>
          <a:ln w="12700">
            <a:solidFill>
              <a:srgbClr val="112166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548640"/>
            <a:ext cx="2194560" cy="411480"/>
          </a:xfrm>
          <a:prstGeom prst="roundRect">
            <a:avLst>
              <a:gd name="adj" fmla="val 48889"/>
            </a:avLst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0" y="5669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Medical Imaging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LungVision AI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Detection &amp; Classification System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3657600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73075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CNN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873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3657600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373075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Random Forest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40873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3657600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373075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KNN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40873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Similarity-Based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Flask · TensorFlow · Scikit-Learn · CT Scan Dataset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Abstract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LungVision AI is a web-based medical imaging platform that integrates Convolutional Neural Networks (CNN), Random Forest, and K-Nearest Neighbors (KNN) algorithms to detect and classify lung cancer from CT scan images with high accuracy.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CT scans into 4 categories: Adenocarcinoma, Large Cell Carcinoma, Squamous Cell Carcinoma, and Normal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prediction: image-based (CT scan) and numeric (questionnaire-based symptom analysis)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Three-model ensemble with CNN as primary and RF/KNN for cross-validation and agreement scoring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application with secure login, real-time inference, and interactive performance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Introduction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051560"/>
            <a:ext cx="3694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1399032"/>
            <a:ext cx="369417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is the leading cause of cancer mortality worldwide. Late detection drastically reduces survival rates, making AI-driven early diagnosis critical.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051560"/>
            <a:ext cx="3694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28032" y="1399032"/>
            <a:ext cx="369417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intelligent, multi-model web platform that assists radiologists by automatically analyzing CT scans and classifying lung tissue with confidence scoring.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2971800"/>
            <a:ext cx="3694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3319272"/>
            <a:ext cx="369417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targets four lung tissue classes, supports both CT image upload and patient questionnaire input, and provides model agreement analysis for reliability.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971800"/>
            <a:ext cx="3694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3319272"/>
            <a:ext cx="369417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can improve 5-year survival rates from ~20% to over 60%. An AI-assisted decision support tool reduces diagnostic errors and time-to-diagnosis.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Project Overview — LungVision AI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3749040" cy="38404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LungVision AI?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383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Flask web application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trained on lung CT scan images (4 classes)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&amp; KNN built on CNN-extracted 256-dim features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symptom predictor (15 patient features)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 with model comparison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with metrics dashboard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authentication system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0" y="960120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1A56D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960120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CT Image Upload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58191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719072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1A56D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719072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CNN Inference (primary)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234086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478024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11216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2478024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Feature Extraction (256-dim)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30998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3236976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3236976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RF &amp; KNN Validation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38587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3995928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D9770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0" y="3995928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Agreement &amp; Result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Lung Cancer Statistics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00584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4300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7602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Cases/Year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14300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68880" y="17602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Deaths/Year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(#1 Cancer Killer)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14300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17720" y="17602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Survival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Stages)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100584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14300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66560" y="17602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Survival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(Stage I Detection)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65760" y="2606040"/>
          <a:ext cx="50292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5669280" y="2606040"/>
            <a:ext cx="31089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852160" y="27432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852160" y="3127248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cases linked to smoking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detected at Stage III/IV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screening reduces mortality 20%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diagnosis can match radiologist accuracy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1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1A56DB">
              <a:alpha val="40000"/>
            </a:srgbClr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38BDF8">
              <a:alpha val="3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&amp; Background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· Dataset · Preprocessing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Literature Review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2412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Ardila et al. (2019)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017520" y="1024128"/>
            <a:ext cx="5577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Brain — CNN on low-dose CT outperformed 11 radiologists. 94.4% AUC. Established deep learning as viable for lung nodule detection.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069848"/>
            <a:ext cx="32004" cy="6858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965960"/>
            <a:ext cx="841248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02996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Shen et al. (2017)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17520" y="2029968"/>
            <a:ext cx="5577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CNN for lung nodule classification. 86.84% accuracy. Introduced hierarchical feature learning for CT analysis.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2075688"/>
            <a:ext cx="32004" cy="6858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2971800"/>
            <a:ext cx="841248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03580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Chassagnon et al. (2020)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17520" y="3035808"/>
            <a:ext cx="5577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Radiomics + RF for lung cancer subtype classification. Used handcrafted features. Accuracy ~83%, limited by feature engineering overhead.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0" y="3081528"/>
            <a:ext cx="32004" cy="6858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3977640"/>
            <a:ext cx="841248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04164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LeCun et al. (1998)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17520" y="4041648"/>
            <a:ext cx="5577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CNN work (LeNet). Established convolutional layer theory still used in modern medical imaging architectures.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0" y="4087368"/>
            <a:ext cx="32004" cy="6858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Existing systems lack multi-model ensemble comparison + dual-mode (image + numeric) prediction in a unified web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Dataset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3566160" cy="2880360"/>
        </p:xfrm>
        <a:graphic>
          <a:graphicData uri="http://schemas.openxmlformats.org/drawingml/2006/table">
            <a:tbl>
              <a:tblPr/>
              <a:tblGrid>
                <a:gridCol w="1645920"/>
                <a:gridCol w="1920240"/>
              </a:tblGrid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/ IQ-OTH/NCCD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~15,000 CT scans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150×150 px (resized)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(see right)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(~10,500)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 (~2,250)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 (~2,250)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JPEG / PNG / BMP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(3 channels)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4526280" y="960120"/>
          <a:ext cx="4251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Data Preprocessing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87552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78992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07899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Image Loading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536192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JPEG/PNG/BMP files using Keras ImageDataGenerator. Maintain class-subfolder structure for automatic labeling.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17720" y="987552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78992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12166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107899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Resizing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27448" y="1536192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all CT scan images to 150×150 pixels. Preserves spatial structure while enabling uniform batch processing.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688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46888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Normalization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2926080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 scaled from [0–255] → [0.0–1.0] by dividing by 255. Accelerates convergence and stabilizes gradients.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237744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4688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246888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Augmentation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267004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 Only)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27448" y="2926080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(±15°), width/height shift (10%), horizontal flip, zoom (10%). Prevents overfitting on limited medical data.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767328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85876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38587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Train/Val/Test Split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" y="4315968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Training · 15% Validation · 15% Testing. Stratified to maintain class balance across all splits.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17720" y="3767328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85876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38587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Batch Processing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27448" y="4315968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= 32. Shuffled for training; unshuffled for validation and test to ensure reproducibility.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21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1A56DB">
              <a:alpha val="40000"/>
            </a:srgbClr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38BDF8">
              <a:alpha val="3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· Random Forest · KNN · System Architecture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Methodology —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3990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069848"/>
            <a:ext cx="27432" cy="9601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10515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diagnostic model. Learns spatial patterns directly from CT scan pixel data using Conv2D, BatchNorm, MaxPool layers, and a 256-dim dense embedding.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84124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42316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🌲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280160" y="2377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7249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Decision Trees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29000" y="2395728"/>
            <a:ext cx="27432" cy="9601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23774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classifier. Trained on CNN-extracted 256-dim feature vectors. Uses 200–400 decision trees with GridSearchCV-tuned parameters.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11880"/>
            <a:ext cx="84124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74904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📍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80160" y="3703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0507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3721608"/>
            <a:ext cx="27432" cy="9601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37033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classifier. Uses CNN feature space with distance-weighted voting (k=3,5,7,9 tuned by cross-validation). Intuitive and interpretable.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Feature Engineering — Numeric Module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Clinical Features (Questionnaire-Based)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3200400"/>
        </p:xfrm>
        <a:graphic>
          <a:graphicData uri="http://schemas.openxmlformats.org/drawingml/2006/table">
            <a:tbl>
              <a:tblPr/>
              <a:tblGrid>
                <a:gridCol w="365760"/>
                <a:gridCol w="1600200"/>
                <a:gridCol w="777240"/>
                <a:gridCol w="685800"/>
                <a:gridCol w="365760"/>
                <a:gridCol w="1600200"/>
                <a:gridCol w="777240"/>
                <a:gridCol w="685800"/>
              </a:tblGrid>
              <a:tr h="355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Wheezing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Alcohol Consuming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Coughing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 Fingers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Shortness of Breath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Anxiety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Swallowing Difficulty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Pressure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Pain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Chronic Disease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Fatigue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Allergy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6,000 synthetic samples · StandardScaler applied before KNN · RF uses raw feature values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CNN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005840"/>
            <a:ext cx="1097280" cy="1920240"/>
          </a:xfrm>
          <a:prstGeom prst="roundRect">
            <a:avLst>
              <a:gd name="adj" fmla="val 8333"/>
            </a:avLst>
          </a:prstGeom>
          <a:solidFill>
            <a:srgbClr val="E0F2F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5156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21031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150×150×3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545336" y="1005840"/>
            <a:ext cx="1097280" cy="1920240"/>
          </a:xfrm>
          <a:prstGeom prst="roundRect">
            <a:avLst>
              <a:gd name="adj" fmla="val 8333"/>
            </a:avLst>
          </a:prstGeom>
          <a:solidFill>
            <a:srgbClr val="BFDBFE"/>
          </a:solidFill>
          <a:ln/>
        </p:spPr>
      </p:sp>
      <p:sp>
        <p:nvSpPr>
          <p:cNvPr id="9" name="Text 7"/>
          <p:cNvSpPr/>
          <p:nvPr/>
        </p:nvSpPr>
        <p:spPr>
          <a:xfrm>
            <a:off x="1545336" y="105156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32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+BN+MaxPool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545336" y="21031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74×74×32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42616" y="17373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70632" y="1005840"/>
            <a:ext cx="1097280" cy="1920240"/>
          </a:xfrm>
          <a:prstGeom prst="roundRect">
            <a:avLst>
              <a:gd name="adj" fmla="val 8333"/>
            </a:avLst>
          </a:prstGeom>
          <a:solidFill>
            <a:srgbClr val="93C5FD"/>
          </a:solidFill>
          <a:ln/>
        </p:spPr>
      </p:sp>
      <p:sp>
        <p:nvSpPr>
          <p:cNvPr id="13" name="Text 11"/>
          <p:cNvSpPr/>
          <p:nvPr/>
        </p:nvSpPr>
        <p:spPr>
          <a:xfrm>
            <a:off x="2770632" y="105156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64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+BN+MaxPool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70632" y="21031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36×36×64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67912" y="17373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995928" y="1005840"/>
            <a:ext cx="1097280" cy="1920240"/>
          </a:xfrm>
          <a:prstGeom prst="roundRect">
            <a:avLst>
              <a:gd name="adj" fmla="val 8333"/>
            </a:avLst>
          </a:prstGeom>
          <a:solidFill>
            <a:srgbClr val="60A5FA"/>
          </a:solidFill>
          <a:ln/>
        </p:spPr>
      </p:sp>
      <p:sp>
        <p:nvSpPr>
          <p:cNvPr id="17" name="Text 15"/>
          <p:cNvSpPr/>
          <p:nvPr/>
        </p:nvSpPr>
        <p:spPr>
          <a:xfrm>
            <a:off x="3995928" y="105156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128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+BN+MaxPool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995928" y="21031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17×17×128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93208" y="17373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21224" y="1005840"/>
            <a:ext cx="1097280" cy="1920240"/>
          </a:xfrm>
          <a:prstGeom prst="roundRect">
            <a:avLst>
              <a:gd name="adj" fmla="val 8333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5221224" y="105156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256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+BN+MaxPool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21224" y="21031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7×7×256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18504" y="17373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46520" y="1005840"/>
            <a:ext cx="1097280" cy="1920240"/>
          </a:xfrm>
          <a:prstGeom prst="roundRect">
            <a:avLst>
              <a:gd name="adj" fmla="val 8333"/>
            </a:avLst>
          </a:prstGeom>
          <a:solidFill>
            <a:srgbClr val="1D4ED8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105156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+Dense 256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46520" y="21031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256-dim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543800" y="17373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671816" y="1005840"/>
            <a:ext cx="1097280" cy="1920240"/>
          </a:xfrm>
          <a:prstGeom prst="roundRect">
            <a:avLst>
              <a:gd name="adj" fmla="val 8333"/>
            </a:avLst>
          </a:prstGeom>
          <a:solidFill>
            <a:srgbClr val="1E40AF"/>
          </a:solidFill>
          <a:ln/>
        </p:spPr>
      </p:sp>
      <p:sp>
        <p:nvSpPr>
          <p:cNvPr id="29" name="Text 27"/>
          <p:cNvSpPr/>
          <p:nvPr/>
        </p:nvSpPr>
        <p:spPr>
          <a:xfrm>
            <a:off x="7671816" y="105156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0.5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+Softmax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671816" y="21031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10896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32461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Parameters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3639312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 (lr = 0.001)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Categorical Cross-Entropy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30 (Early Stopping, patience=5)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32 · ReduceLR (factor=0.5)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310896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54880" y="3246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Equations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54880" y="3657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Conv: feature(i,j) = Σ Σ input(i+m, j+n) · kernel(m,n) + bias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54880" y="406908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ReLU: f(x) = max(0, x)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Softmax: P(y=k|x) = exp(zk) / Σ exp(zi)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Random Forest Approach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N decision trees on bootstrap samples of training data (bagging)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trained on CNN-extracted 256-dim feature vector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split, random subset of features evaluated (sqrt(256) ≈ 16)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 = majority vote across all trees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GridSearchCV: n_estimators=[200,400], max_depth=[None,30]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3-fold CV with n_jobs=-1 for parallel training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scores extracted for visualization per image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777240" cy="685800"/>
          </a:xfrm>
          <a:prstGeom prst="roundRect">
            <a:avLst>
              <a:gd name="adj" fmla="val 10667"/>
            </a:avLst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00584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16916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011680"/>
            <a:ext cx="777240" cy="685800"/>
          </a:xfrm>
          <a:prstGeom prst="roundRect">
            <a:avLst>
              <a:gd name="adj" fmla="val 10667"/>
            </a:avLst>
          </a:pr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01168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1005840"/>
            <a:ext cx="777240" cy="685800"/>
          </a:xfrm>
          <a:prstGeom prst="roundRect">
            <a:avLst>
              <a:gd name="adj" fmla="val 10667"/>
            </a:avLst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00584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16916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011680"/>
            <a:ext cx="777240" cy="685800"/>
          </a:xfrm>
          <a:prstGeom prst="roundRect">
            <a:avLst>
              <a:gd name="adj" fmla="val 10667"/>
            </a:avLst>
          </a:pr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01168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0" y="1005840"/>
            <a:ext cx="777240" cy="685800"/>
          </a:xfrm>
          <a:prstGeom prst="roundRect">
            <a:avLst>
              <a:gd name="adj" fmla="val 10667"/>
            </a:avLst>
          </a:prstGeom>
          <a:solidFill>
            <a:srgbClr val="15803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100584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16916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2011680"/>
            <a:ext cx="777240" cy="685800"/>
          </a:xfrm>
          <a:prstGeom prst="roundRect">
            <a:avLst>
              <a:gd name="adj" fmla="val 10667"/>
            </a:avLst>
          </a:prstGeom>
          <a:solidFill>
            <a:srgbClr val="4ADE8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201168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0" y="1325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8056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Voting 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0" y="329184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32918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480560" y="4114800"/>
            <a:ext cx="4297680" cy="594360"/>
          </a:xfrm>
          <a:prstGeom prst="roundRect">
            <a:avLst>
              <a:gd name="adj" fmla="val 12308"/>
            </a:avLst>
          </a:prstGeom>
          <a:solidFill>
            <a:srgbClr val="F0FDF4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14223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Robust to overfitting · No feature scaling needed · Handles high-dim CNN features well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K-Nearest Neighbors (KNN) Approach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Non-parametric: no explicit training phase beyond storing data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new CT image, compute distances to all training feature vectors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k nearest neighbors, classify by distance-weighted vote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metric: Euclidean on 256-dim CNN feature space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weights='distance' — closer neighbors have higher influence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GridSearchCV: n_neighbors tested at [3, 5, 7, 9]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normalized with StandardScaler before distance computation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0" y="960120"/>
            <a:ext cx="42062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0972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Decision Boundary Concept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20640" y="173736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210312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94960" y="160020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1828800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1645920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2194560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926080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3200400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3291840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3017520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3383280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2377440"/>
            <a:ext cx="256032" cy="256032"/>
          </a:xfrm>
          <a:prstGeom prst="ellipse">
            <a:avLst/>
          </a:prstGeom>
          <a:solidFill>
            <a:srgbClr val="1E2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267004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402336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40690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d(x,y) = √Σ(xi − yi)²  |  Class = argmax Σ (1/d(x,xi))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System Architecture &amp; Data 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0584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789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Browser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140817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Upload CT scan / Submit questionnaire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21762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50545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/predict /predict_numeric /performance /charts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00584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47288" y="10789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(cancer.h5)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47288" y="140817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inference on 150×150 CT image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210312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47288" y="21762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47288" y="250545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256-dim penultimate layer output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320040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47288" y="32735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&amp; KNN (.pkl)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47288" y="360273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extracted features, return probabilities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429768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47288" y="43708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RF &amp; KNN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47288" y="470001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15 symptom features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46520" y="100584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56248" y="10789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metrics.json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56248" y="140817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Precision / Recall / F1 from evaluate_models.py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46520" y="210312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56248" y="21762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Uploads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56248" y="250545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CT scan images for display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46520" y="320040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56248" y="32735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56248" y="360273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state, user email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154680" y="1828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236208" y="1828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1: Client Layer       Column 2: ML Inference Layer       Column 3: Storage / State Layer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21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1A56DB">
              <a:alpha val="40000"/>
            </a:srgbClr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38BDF8">
              <a:alpha val="3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Results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· Metrics · Confusion Matrices · Analysis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CNN Training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A56DB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65760" y="960120"/>
          <a:ext cx="42976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846320" y="960120"/>
          <a:ext cx="39319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97764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365760" y="4114800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93.5%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365760" y="453085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Train Acc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468880" y="397764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2468880" y="4114800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89.5%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2468880" y="453085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 Acc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0" y="397764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572000" y="4114800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4572000" y="453085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 Loss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675120" y="397764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675120" y="4114800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20/30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6675120" y="453085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Used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Model Evaluation Metrics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A56DB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01168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🧠 CNN (Primary)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 Scan 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🌲 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Features (256-dim)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📍 KNN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Features (256-dim)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365760" y="3154680"/>
          <a:ext cx="84124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Confusion Matrices — All 3 Models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60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58952" y="1298448"/>
            <a:ext cx="530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307592" y="1298448"/>
            <a:ext cx="530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LCC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856232" y="1298448"/>
            <a:ext cx="530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404872" y="1298448"/>
            <a:ext cx="530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0515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6888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58952" y="1554480"/>
            <a:ext cx="530352" cy="5029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155448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07592" y="155448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1307592" y="155448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56232" y="155448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1856232" y="155448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04872" y="155448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2404872" y="155448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6888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LCC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58952" y="210312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" y="210312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07592" y="2103120"/>
            <a:ext cx="530352" cy="5029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3" name="Text 21"/>
          <p:cNvSpPr/>
          <p:nvPr/>
        </p:nvSpPr>
        <p:spPr>
          <a:xfrm>
            <a:off x="1307592" y="210312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56232" y="210312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1856232" y="210312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04872" y="210312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2404872" y="210312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6888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58952" y="265176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758952" y="265176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307592" y="265176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1307592" y="265176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56232" y="2651760"/>
            <a:ext cx="530352" cy="5029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4" name="Text 32"/>
          <p:cNvSpPr/>
          <p:nvPr/>
        </p:nvSpPr>
        <p:spPr>
          <a:xfrm>
            <a:off x="1856232" y="265176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04872" y="265176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2404872" y="265176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46888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Squam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58952" y="320040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758952" y="320040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307592" y="320040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Text 39"/>
          <p:cNvSpPr/>
          <p:nvPr/>
        </p:nvSpPr>
        <p:spPr>
          <a:xfrm>
            <a:off x="1307592" y="320040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856232" y="320040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/>
          <p:nvPr/>
        </p:nvSpPr>
        <p:spPr>
          <a:xfrm>
            <a:off x="1856232" y="320040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404872" y="3200400"/>
            <a:ext cx="530352" cy="5029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5" name="Text 43"/>
          <p:cNvSpPr/>
          <p:nvPr/>
        </p:nvSpPr>
        <p:spPr>
          <a:xfrm>
            <a:off x="2404872" y="320040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27832" y="960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758184" y="1298448"/>
            <a:ext cx="530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306824" y="1298448"/>
            <a:ext cx="530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LCC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855464" y="1298448"/>
            <a:ext cx="530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404104" y="1298448"/>
            <a:ext cx="530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Squam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758184" y="10515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2461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758184" y="1554480"/>
            <a:ext cx="530352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4" name="Text 52"/>
          <p:cNvSpPr/>
          <p:nvPr/>
        </p:nvSpPr>
        <p:spPr>
          <a:xfrm>
            <a:off x="3758184" y="155448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535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306824" y="155448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4306824" y="155448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855464" y="155448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4855464" y="155448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404104" y="155448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5404104" y="155448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24612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LCC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758184" y="210312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3" name="Text 61"/>
          <p:cNvSpPr/>
          <p:nvPr/>
        </p:nvSpPr>
        <p:spPr>
          <a:xfrm>
            <a:off x="3758184" y="210312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306824" y="2103120"/>
            <a:ext cx="530352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5" name="Text 63"/>
          <p:cNvSpPr/>
          <p:nvPr/>
        </p:nvSpPr>
        <p:spPr>
          <a:xfrm>
            <a:off x="4306824" y="210312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408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855464" y="210312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Text 65"/>
          <p:cNvSpPr/>
          <p:nvPr/>
        </p:nvSpPr>
        <p:spPr>
          <a:xfrm>
            <a:off x="4855464" y="210312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404104" y="210312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9" name="Text 67"/>
          <p:cNvSpPr/>
          <p:nvPr/>
        </p:nvSpPr>
        <p:spPr>
          <a:xfrm>
            <a:off x="5404104" y="210312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24612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758184" y="265176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2" name="Text 70"/>
          <p:cNvSpPr/>
          <p:nvPr/>
        </p:nvSpPr>
        <p:spPr>
          <a:xfrm>
            <a:off x="3758184" y="265176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306824" y="265176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4306824" y="265176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855464" y="2651760"/>
            <a:ext cx="530352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6" name="Text 74"/>
          <p:cNvSpPr/>
          <p:nvPr/>
        </p:nvSpPr>
        <p:spPr>
          <a:xfrm>
            <a:off x="4855464" y="265176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468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5404104" y="265176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Text 76"/>
          <p:cNvSpPr/>
          <p:nvPr/>
        </p:nvSpPr>
        <p:spPr>
          <a:xfrm>
            <a:off x="5404104" y="265176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24612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Squam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3758184" y="320040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1" name="Text 79"/>
          <p:cNvSpPr/>
          <p:nvPr/>
        </p:nvSpPr>
        <p:spPr>
          <a:xfrm>
            <a:off x="3758184" y="320040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306824" y="320040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3" name="Text 81"/>
          <p:cNvSpPr/>
          <p:nvPr/>
        </p:nvSpPr>
        <p:spPr>
          <a:xfrm>
            <a:off x="4306824" y="320040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855464" y="320040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5" name="Text 83"/>
          <p:cNvSpPr/>
          <p:nvPr/>
        </p:nvSpPr>
        <p:spPr>
          <a:xfrm>
            <a:off x="4855464" y="320040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404104" y="3200400"/>
            <a:ext cx="530352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7" name="Text 85"/>
          <p:cNvSpPr/>
          <p:nvPr/>
        </p:nvSpPr>
        <p:spPr>
          <a:xfrm>
            <a:off x="5404104" y="320040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447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6227064" y="960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6757416" y="1298448"/>
            <a:ext cx="530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7306056" y="1298448"/>
            <a:ext cx="530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LCC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7854696" y="1298448"/>
            <a:ext cx="530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8403336" y="1298448"/>
            <a:ext cx="530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Squam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6757416" y="10515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6245352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6757416" y="1554480"/>
            <a:ext cx="530352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6" name="Text 94"/>
          <p:cNvSpPr/>
          <p:nvPr/>
        </p:nvSpPr>
        <p:spPr>
          <a:xfrm>
            <a:off x="6757416" y="155448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515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7306056" y="155448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8" name="Text 96"/>
          <p:cNvSpPr/>
          <p:nvPr/>
        </p:nvSpPr>
        <p:spPr>
          <a:xfrm>
            <a:off x="7306056" y="155448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7854696" y="155448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0" name="Text 98"/>
          <p:cNvSpPr/>
          <p:nvPr/>
        </p:nvSpPr>
        <p:spPr>
          <a:xfrm>
            <a:off x="7854696" y="155448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8403336" y="155448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2" name="Text 100"/>
          <p:cNvSpPr/>
          <p:nvPr/>
        </p:nvSpPr>
        <p:spPr>
          <a:xfrm>
            <a:off x="8403336" y="155448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245352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LCC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6757416" y="210312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5" name="Text 103"/>
          <p:cNvSpPr/>
          <p:nvPr/>
        </p:nvSpPr>
        <p:spPr>
          <a:xfrm>
            <a:off x="6757416" y="210312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7306056" y="2103120"/>
            <a:ext cx="530352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7" name="Text 105"/>
          <p:cNvSpPr/>
          <p:nvPr/>
        </p:nvSpPr>
        <p:spPr>
          <a:xfrm>
            <a:off x="7306056" y="210312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395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7854696" y="210312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9" name="Text 107"/>
          <p:cNvSpPr/>
          <p:nvPr/>
        </p:nvSpPr>
        <p:spPr>
          <a:xfrm>
            <a:off x="7854696" y="210312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8403336" y="210312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1" name="Text 109"/>
          <p:cNvSpPr/>
          <p:nvPr/>
        </p:nvSpPr>
        <p:spPr>
          <a:xfrm>
            <a:off x="8403336" y="210312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245352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6757416" y="265176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4" name="Text 112"/>
          <p:cNvSpPr/>
          <p:nvPr/>
        </p:nvSpPr>
        <p:spPr>
          <a:xfrm>
            <a:off x="6757416" y="265176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7306056" y="265176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6" name="Text 114"/>
          <p:cNvSpPr/>
          <p:nvPr/>
        </p:nvSpPr>
        <p:spPr>
          <a:xfrm>
            <a:off x="7306056" y="265176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7854696" y="2651760"/>
            <a:ext cx="530352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8" name="Text 116"/>
          <p:cNvSpPr/>
          <p:nvPr/>
        </p:nvSpPr>
        <p:spPr>
          <a:xfrm>
            <a:off x="7854696" y="265176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455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8403336" y="265176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0" name="Text 118"/>
          <p:cNvSpPr/>
          <p:nvPr/>
        </p:nvSpPr>
        <p:spPr>
          <a:xfrm>
            <a:off x="8403336" y="265176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245352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Squam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6757416" y="320040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3" name="Text 121"/>
          <p:cNvSpPr/>
          <p:nvPr/>
        </p:nvSpPr>
        <p:spPr>
          <a:xfrm>
            <a:off x="6757416" y="320040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7306056" y="320040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5" name="Text 123"/>
          <p:cNvSpPr/>
          <p:nvPr/>
        </p:nvSpPr>
        <p:spPr>
          <a:xfrm>
            <a:off x="7306056" y="320040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7854696" y="3200400"/>
            <a:ext cx="530352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7" name="Text 125"/>
          <p:cNvSpPr/>
          <p:nvPr/>
        </p:nvSpPr>
        <p:spPr>
          <a:xfrm>
            <a:off x="7854696" y="320040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8403336" y="3200400"/>
            <a:ext cx="530352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9" name="Text 127"/>
          <p:cNvSpPr/>
          <p:nvPr/>
        </p:nvSpPr>
        <p:spPr>
          <a:xfrm>
            <a:off x="8403336" y="320040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433</a:t>
            </a:r>
            <a:endParaRPr lang="en-US" sz="1000" dirty="0"/>
          </a:p>
        </p:txBody>
      </p:sp>
      <p:sp>
        <p:nvSpPr>
          <p:cNvPr id="130" name="Text 128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= Actual Class · Columns = Predicted Class · Diagonal = Correct Predictions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Results &amp;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A56DB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65760" y="960120"/>
          <a:ext cx="4023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960120"/>
          <a:ext cx="4114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43484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48640" y="44805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CNN achieves 93.5% accuracy — best single-model result · RF reaches 91.2% using only CNN features (no raw pixel access) · CNN↔RF agree 92.1% of the time — strong ensemble reliability · Triple agreement (all 3) reached in ~87% of test cases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Implementation — Key Code Snippets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CNN Prediction (app.py)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= kimg.load_img(filepath,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target_size=(150, 150))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= np.expand_dims(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kimg.img_to_array(img)/255.0,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axis=0)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model.predict(arr)[0]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class_idx = int(np.argmax(result))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probs = [round(float(v)*100,2)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for v in result]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Feature Extraction: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405993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feats = extractor.predict(arr)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rf_proba = rf.predict_proba(feats)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0515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CNN Model (train_cnn.py)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74904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Sequential([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Conv2D(32,(3,3),activation='relu'),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BatchNormalization(),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MaxPooling2D(2,2),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Conv2D(64,(3,3),activation='relu'),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BatchNormalization(),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MaxPooling2D(2,2),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Dense(256,activation='relu'),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Dropout(0.5),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Dense(4,activation='softmax'),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21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1A56DB">
              <a:alpha val="40000"/>
            </a:srgbClr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38BDF8">
              <a:alpha val="3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Work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Resolved · Conclusion · Roadmap · References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Challenges &amp; Solutions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607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Model Build Error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CNN loaded from .h5 failed Model(inputs=cnn.input) on Sequential models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1078992"/>
            <a:ext cx="27432" cy="7315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09728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Solution: Warm-up with dummy predict + tf.keras.Sequential(cnn.layers[:-1]) to build extractor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84124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0665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Feature Extraction for RF/KNN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39572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Stripping the final softmax layer correctly from saved Sequential model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2084832"/>
            <a:ext cx="27432" cy="7315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10312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Solution: Built extractor excluding last layer, called .build() to initialize weight shapes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84124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07238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on CT Scan Data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40156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Model memorized training patterns, validation accuracy lagged behind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0" y="3090672"/>
            <a:ext cx="27432" cy="7315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310896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Solution: Applied augmentation (rotation, flip, zoom) + BatchNormalization + Dropout(0.5)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023360"/>
            <a:ext cx="84124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07822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Numeric Dataset Imbalance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40740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Risk scoring formula produced uneven class distribution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0" y="4096512"/>
            <a:ext cx="27432" cy="7315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411480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Solution: Tuned subtype scoring weights (squamous, adeno, large cell) for balanced distribution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Conclusion &amp; Future Enhancements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657600" cy="3182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LungVision AI successfully classifies 4 lung tissue types with CNN achieving 93.5% accuracy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ensemble (CNN + RF + KNN) enhances reliability through agreement scoring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prediction (CT image + numeric questionnaire) broadens clinical utility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platform enables secure, real-time inference accessible to medical teams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extractor reuse (256-dim CNN embeddings) enables efficient RF/KNN training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96012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097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536192"/>
            <a:ext cx="960120" cy="320040"/>
          </a:xfrm>
          <a:prstGeom prst="roundRect">
            <a:avLst>
              <a:gd name="adj" fmla="val 34286"/>
            </a:avLst>
          </a:prstGeom>
          <a:solidFill>
            <a:srgbClr val="1A56DB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53619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(Now)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760720" y="153619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cloud (AWS/GCP), add DICOM format support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2414016"/>
            <a:ext cx="960120" cy="320040"/>
          </a:xfrm>
          <a:prstGeom prst="roundRect">
            <a:avLst>
              <a:gd name="adj" fmla="val 34286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414016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(6M)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760720" y="2414016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GAN-based data augmentation for rare subtypes, 3D CNN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3291840"/>
            <a:ext cx="960120" cy="320040"/>
          </a:xfrm>
          <a:prstGeom prst="roundRect">
            <a:avLst>
              <a:gd name="adj" fmla="val 34286"/>
            </a:avLst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329184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(12M)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760720" y="32918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explainability, attention heatmaps on CT scans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4169664"/>
            <a:ext cx="960120" cy="320040"/>
          </a:xfrm>
          <a:prstGeom prst="roundRect">
            <a:avLst>
              <a:gd name="adj" fmla="val 34286"/>
            </a:avLst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4169664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(18M)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760720" y="4169664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integration, HIPAA-compliant data storage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640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12166">
              <a:alpha val="50000"/>
            </a:srgbClr>
          </a:solidFill>
          <a:ln w="12700">
            <a:solidFill>
              <a:srgbClr val="112166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2560320" cy="2560320"/>
          </a:xfrm>
          <a:prstGeom prst="ellipse">
            <a:avLst/>
          </a:prstGeom>
          <a:solidFill>
            <a:srgbClr val="112166">
              <a:alpha val="40000"/>
            </a:srgbClr>
          </a:solidFill>
          <a:ln w="12700">
            <a:solidFill>
              <a:srgbClr val="112166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Ardila, D., et al. (2019). "End-to-end lung cancer detection using deep learning." Nature Medicine, 25, 954–961.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51790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Shen, W., et al. (2017). "Multi-scale convolutional neural networks for lung nodule classification." IPMI, Lecture Notes in Computer Science.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0299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Chassagnon, G., et al. (2020). "Artificial intelligence applications for thoracic imaging." European Journal of Radiology, 123.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5420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LeCun, Y., et al. (1998). "Gradient-based learning applied to document recognition." Proceedings of the IEEE, 86(11), 2278–2324.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05409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Breiman, L. (2001). "Random Forests." Machine Learning, 45(1), 5–32. Springer.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Cover, T. &amp; Hart, P. (1967). "Nearest neighbor pattern classification." IEEE Transactions on Information Theory, 13(1), 21–27.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07822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Chollet, F. (2021). "Deep Learning with Python, 2nd Ed." Manning Publications.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59028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IQ-OTH/NCCD Lung Cancer Dataset. Kaggle. https://www.kaggle.com/datasets/adityamahimkar/iqothnccd-lung-cancer-dataset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12166">
              <a:alpha val="60000"/>
            </a:srgbClr>
          </a:solidFill>
          <a:ln w="12700">
            <a:solidFill>
              <a:srgbClr val="112166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474720"/>
            <a:ext cx="3200400" cy="3200400"/>
          </a:xfrm>
          <a:prstGeom prst="ellipse">
            <a:avLst/>
          </a:prstGeom>
          <a:solidFill>
            <a:srgbClr val="112166">
              <a:alpha val="50000"/>
            </a:srgbClr>
          </a:solidFill>
          <a:ln w="12700">
            <a:solidFill>
              <a:srgbClr val="112166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LungVision AI — Advancing Early Lung Cancer Detection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371600" y="3291840"/>
            <a:ext cx="6400800" cy="731520"/>
          </a:xfrm>
          <a:prstGeom prst="roundRect">
            <a:avLst>
              <a:gd name="adj" fmla="val 125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3375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CNN: 93.5%  ·  Random Forest: 91.2%  ·  KNN: 88.7%  ·  Agreement: 92.1%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LungVision AI - Lung Cancer Detection</dc:title>
  <dc:subject>PptxGenJS Presentation</dc:subject>
  <dc:creator>LungVision Team</dc:creator>
  <cp:lastModifiedBy>LungVision Team</cp:lastModifiedBy>
  <cp:revision>1</cp:revision>
  <dcterms:created xsi:type="dcterms:W3CDTF">2026-06-23T07:46:46Z</dcterms:created>
  <dcterms:modified xsi:type="dcterms:W3CDTF">2026-06-23T07:46:46Z</dcterms:modified>
</cp:coreProperties>
</file>